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56" r:id="rId5"/>
  </p:sldMasterIdLst>
  <p:sldIdLst>
    <p:sldId id="257" r:id="rId6"/>
    <p:sldId id="294" r:id="rId7"/>
    <p:sldId id="259" r:id="rId8"/>
    <p:sldId id="275" r:id="rId9"/>
    <p:sldId id="276" r:id="rId10"/>
    <p:sldId id="279" r:id="rId11"/>
    <p:sldId id="277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78" r:id="rId25"/>
    <p:sldId id="293" r:id="rId26"/>
    <p:sldId id="271" r:id="rId27"/>
    <p:sldId id="273" r:id="rId28"/>
  </p:sldIdLst>
  <p:sldSz cx="12192000" cy="6858000"/>
  <p:notesSz cx="6858000" cy="9144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Open Sans" panose="020B0604020202020204" charset="0"/>
      <p:regular r:id="rId33"/>
      <p:bold r:id="rId34"/>
      <p:italic r:id="rId35"/>
      <p:boldItalic r:id="rId36"/>
    </p:embeddedFont>
    <p:embeddedFont>
      <p:font typeface="Proxima Nova Black" panose="020B0604020202020204" charset="0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950" autoAdjust="0"/>
  </p:normalViewPr>
  <p:slideViewPr>
    <p:cSldViewPr snapToGrid="0">
      <p:cViewPr varScale="1">
        <p:scale>
          <a:sx n="110" d="100"/>
          <a:sy n="110" d="100"/>
        </p:scale>
        <p:origin x="630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font" Target="fonts/font6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5.fntdata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8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2.fntdata"/><Relationship Id="rId35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</a:t>
            </a:r>
            <a:br>
              <a:rPr lang="uk-UA" dirty="0"/>
            </a:br>
            <a:r>
              <a:rPr lang="en-US" dirty="0"/>
              <a:t>TO</a:t>
            </a:r>
            <a:r>
              <a:rPr lang="uk-UA" dirty="0"/>
              <a:t> </a:t>
            </a:r>
            <a:r>
              <a:rPr lang="en-US" dirty="0"/>
              <a:t>BE</a:t>
            </a:r>
            <a:r>
              <a:rPr lang="uk-UA" dirty="0"/>
              <a:t> </a:t>
            </a:r>
            <a:r>
              <a:rPr lang="en-US" dirty="0"/>
              <a:t>CAPI</a:t>
            </a:r>
            <a:br>
              <a:rPr lang="uk-UA" dirty="0"/>
            </a:br>
            <a:r>
              <a:rPr lang="en-US" dirty="0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57075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96648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5463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7772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6044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0788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IDETEXT-PROCES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77043"/>
            <a:ext cx="7124700" cy="2051957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77043"/>
            <a:ext cx="3467100" cy="2051957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917664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3113586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 userDrawn="1"/>
        </p:nvSpPr>
        <p:spPr>
          <a:xfrm>
            <a:off x="5309508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7505429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 userDrawn="1"/>
        </p:nvSpPr>
        <p:spPr>
          <a:xfrm>
            <a:off x="9701348" y="3638007"/>
            <a:ext cx="1598024" cy="1598024"/>
          </a:xfrm>
          <a:prstGeom prst="ellipse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 userDrawn="1"/>
        </p:nvCxnSpPr>
        <p:spPr>
          <a:xfrm>
            <a:off x="2700337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 userDrawn="1"/>
        </p:nvCxnSpPr>
        <p:spPr>
          <a:xfrm>
            <a:off x="4896259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 userDrawn="1"/>
        </p:nvCxnSpPr>
        <p:spPr>
          <a:xfrm>
            <a:off x="709218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 userDrawn="1"/>
        </p:nvCxnSpPr>
        <p:spPr>
          <a:xfrm>
            <a:off x="928810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028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7481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3360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639324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82544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6" name="TextBox 25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236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9" name="TextBox 3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986282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R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2959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219825" y="2057400"/>
            <a:ext cx="5286375" cy="342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3376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DE-PHOTO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057400"/>
            <a:ext cx="12192000" cy="480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739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2025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-PHOTO-R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</a:t>
            </a:r>
            <a:r>
              <a:rPr lang="uk-UA" dirty="0"/>
              <a:t> С</a:t>
            </a:r>
            <a:r>
              <a:rPr lang="en-US" dirty="0"/>
              <a:t>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734514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-CHAR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68543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022539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LIGH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</a:t>
            </a:r>
            <a:br>
              <a:rPr lang="uk-UA" dirty="0"/>
            </a:br>
            <a:r>
              <a:rPr lang="en-US" dirty="0"/>
              <a:t>TO</a:t>
            </a:r>
            <a:r>
              <a:rPr lang="uk-UA" dirty="0"/>
              <a:t> </a:t>
            </a:r>
            <a:r>
              <a:rPr lang="en-US" dirty="0"/>
              <a:t>BE</a:t>
            </a:r>
            <a:r>
              <a:rPr lang="uk-UA" dirty="0"/>
              <a:t> </a:t>
            </a:r>
            <a:r>
              <a:rPr lang="en-US" dirty="0"/>
              <a:t>CAPI</a:t>
            </a:r>
            <a:br>
              <a:rPr lang="uk-UA" dirty="0"/>
            </a:br>
            <a:r>
              <a:rPr lang="en-US" dirty="0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4242457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by Speaker</a:t>
            </a:r>
          </a:p>
        </p:txBody>
      </p:sp>
    </p:spTree>
    <p:extLst>
      <p:ext uri="{BB962C8B-B14F-4D97-AF65-F5344CB8AC3E}">
        <p14:creationId xmlns:p14="http://schemas.microsoft.com/office/powerpoint/2010/main" val="2667753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18938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0168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196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86897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IDETEXT-PROCESS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77043"/>
            <a:ext cx="7124700" cy="2051957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77043"/>
            <a:ext cx="3467100" cy="2051957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917664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>
            <a:off x="3113586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 userDrawn="1"/>
        </p:nvSpPr>
        <p:spPr>
          <a:xfrm>
            <a:off x="5309508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7505429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 userDrawn="1"/>
        </p:nvSpPr>
        <p:spPr>
          <a:xfrm>
            <a:off x="9701348" y="3638007"/>
            <a:ext cx="1598024" cy="15980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 userDrawn="1"/>
        </p:nvCxnSpPr>
        <p:spPr>
          <a:xfrm>
            <a:off x="2700337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 userDrawn="1"/>
        </p:nvCxnSpPr>
        <p:spPr>
          <a:xfrm>
            <a:off x="4896259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 userDrawn="1"/>
        </p:nvCxnSpPr>
        <p:spPr>
          <a:xfrm>
            <a:off x="709218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 userDrawn="1"/>
        </p:nvCxnSpPr>
        <p:spPr>
          <a:xfrm>
            <a:off x="9288101" y="4437019"/>
            <a:ext cx="228600" cy="0"/>
          </a:xfrm>
          <a:prstGeom prst="straightConnector1">
            <a:avLst/>
          </a:prstGeom>
          <a:ln w="19050">
            <a:solidFill>
              <a:schemeClr val="bg1">
                <a:lumMod val="65000"/>
                <a:lumOff val="3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028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247481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43360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639324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825445" y="4040777"/>
            <a:ext cx="1349829" cy="809897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487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</a:t>
            </a:r>
          </a:p>
        </p:txBody>
      </p:sp>
    </p:spTree>
    <p:extLst>
      <p:ext uri="{BB962C8B-B14F-4D97-AF65-F5344CB8AC3E}">
        <p14:creationId xmlns:p14="http://schemas.microsoft.com/office/powerpoint/2010/main" val="11286899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RIGH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2959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219825" y="2057400"/>
            <a:ext cx="5286375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42787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DE-PHOTO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057400"/>
            <a:ext cx="121920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55464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5590467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-PHOTO-RIGH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</a:t>
            </a:r>
            <a:r>
              <a:rPr lang="uk-UA" dirty="0"/>
              <a:t> С</a:t>
            </a:r>
            <a:r>
              <a:rPr lang="en-US" dirty="0"/>
              <a:t>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1780709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-CHAR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 BE CAPITALIZED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2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-LEF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 dirty="0"/>
              <a:t>TITLE TO</a:t>
            </a:r>
            <a:br>
              <a:rPr lang="uk-UA" dirty="0"/>
            </a:br>
            <a:r>
              <a:rPr lang="en-US" dirty="0"/>
              <a:t>BE CAPITA</a:t>
            </a:r>
            <a:br>
              <a:rPr lang="uk-UA" dirty="0"/>
            </a:br>
            <a:r>
              <a:rPr lang="en-US" dirty="0"/>
              <a:t>LIZED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SoftServe Confidential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429000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the text 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4381500" y="1371600"/>
            <a:ext cx="71247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4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38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2" r:id="rId3"/>
    <p:sldLayoutId id="2147483654" r:id="rId4"/>
    <p:sldLayoutId id="2147483657" r:id="rId5"/>
    <p:sldLayoutId id="2147483661" r:id="rId6"/>
    <p:sldLayoutId id="2147483663" r:id="rId7"/>
    <p:sldLayoutId id="2147483665" r:id="rId8"/>
    <p:sldLayoutId id="2147483667" r:id="rId9"/>
    <p:sldLayoutId id="2147483670" r:id="rId10"/>
    <p:sldLayoutId id="2147483669" r:id="rId11"/>
    <p:sldLayoutId id="2147483671" r:id="rId12"/>
    <p:sldLayoutId id="2147483672" r:id="rId13"/>
    <p:sldLayoutId id="214748367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32" userDrawn="1">
          <p15:clr>
            <a:srgbClr val="F26B43"/>
          </p15:clr>
        </p15:guide>
        <p15:guide id="4" pos="7248" userDrawn="1">
          <p15:clr>
            <a:srgbClr val="F26B43"/>
          </p15:clr>
        </p15:guide>
        <p15:guide id="5" orient="horz" pos="432" userDrawn="1">
          <p15:clr>
            <a:srgbClr val="F26B43"/>
          </p15:clr>
        </p15:guide>
        <p15:guide id="6" orient="horz" pos="864" userDrawn="1">
          <p15:clr>
            <a:srgbClr val="F26B43"/>
          </p15:clr>
        </p15:guide>
        <p15:guide id="7" orient="horz" pos="3456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  <p15:guide id="9" pos="1680" userDrawn="1">
          <p15:clr>
            <a:srgbClr val="F26B43"/>
          </p15:clr>
        </p15:guide>
        <p15:guide id="10" pos="1824" userDrawn="1">
          <p15:clr>
            <a:srgbClr val="F26B43"/>
          </p15:clr>
        </p15:guide>
        <p15:guide id="11" pos="2616" userDrawn="1">
          <p15:clr>
            <a:srgbClr val="F26B43"/>
          </p15:clr>
        </p15:guide>
        <p15:guide id="12" pos="3072" userDrawn="1">
          <p15:clr>
            <a:srgbClr val="F26B43"/>
          </p15:clr>
        </p15:guide>
        <p15:guide id="13" pos="2760" userDrawn="1">
          <p15:clr>
            <a:srgbClr val="F26B43"/>
          </p15:clr>
        </p15:guide>
        <p15:guide id="14" pos="3216" userDrawn="1">
          <p15:clr>
            <a:srgbClr val="F26B43"/>
          </p15:clr>
        </p15:guide>
        <p15:guide id="15" pos="4464" userDrawn="1">
          <p15:clr>
            <a:srgbClr val="F26B43"/>
          </p15:clr>
        </p15:guide>
        <p15:guide id="16" pos="4608" userDrawn="1">
          <p15:clr>
            <a:srgbClr val="F26B43"/>
          </p15:clr>
        </p15:guide>
        <p15:guide id="17" pos="4920" userDrawn="1">
          <p15:clr>
            <a:srgbClr val="F26B43"/>
          </p15:clr>
        </p15:guide>
        <p15:guide id="18" pos="5064" userDrawn="1">
          <p15:clr>
            <a:srgbClr val="F26B43"/>
          </p15:clr>
        </p15:guide>
        <p15:guide id="19" pos="5856" userDrawn="1">
          <p15:clr>
            <a:srgbClr val="F26B43"/>
          </p15:clr>
        </p15:guide>
        <p15:guide id="20" pos="6000" userDrawn="1">
          <p15:clr>
            <a:srgbClr val="F26B43"/>
          </p15:clr>
        </p15:guide>
        <p15:guide id="21" orient="horz" pos="1296" userDrawn="1">
          <p15:clr>
            <a:srgbClr val="F26B43"/>
          </p15:clr>
        </p15:guide>
        <p15:guide id="22" orient="horz" pos="1728" userDrawn="1">
          <p15:clr>
            <a:srgbClr val="F26B43"/>
          </p15:clr>
        </p15:guide>
        <p15:guide id="23" pos="3768" userDrawn="1">
          <p15:clr>
            <a:srgbClr val="F26B43"/>
          </p15:clr>
        </p15:guide>
        <p15:guide id="24" pos="391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959145" y="5906728"/>
            <a:ext cx="1547053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64" r:id="rId7"/>
    <p:sldLayoutId id="2147483666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ref.ru/css" TargetMode="External"/><Relationship Id="rId2" Type="http://schemas.openxmlformats.org/officeDocument/2006/relationships/hyperlink" Target="https://developer.mozilla.org/en-US/docs/Web/CSS/CSS_Flexible_Box_Layou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s-tricks.com/snippets/css/a-guide-to-flexbox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8308" y="174928"/>
            <a:ext cx="12390783" cy="6683071"/>
          </a:xfrm>
        </p:spPr>
        <p:txBody>
          <a:bodyPr/>
          <a:lstStyle/>
          <a:p>
            <a:r>
              <a:rPr lang="en-US" dirty="0">
                <a:latin typeface="Proxima Nova Black" panose="02000506030000020004" pitchFamily="2" charset="0"/>
              </a:rPr>
              <a:t>FLEXBOX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By Volodymyr Karanevych</a:t>
            </a:r>
          </a:p>
        </p:txBody>
      </p:sp>
    </p:spTree>
    <p:extLst>
      <p:ext uri="{BB962C8B-B14F-4D97-AF65-F5344CB8AC3E}">
        <p14:creationId xmlns:p14="http://schemas.microsoft.com/office/powerpoint/2010/main" val="155275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820400" cy="1714502"/>
          </a:xfrm>
        </p:spPr>
        <p:txBody>
          <a:bodyPr/>
          <a:lstStyle/>
          <a:p>
            <a:r>
              <a:rPr lang="en-US" dirty="0"/>
              <a:t>AGENDA</a:t>
            </a:r>
            <a:endParaRPr lang="uk-U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2400301"/>
            <a:ext cx="4274820" cy="3810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FLEXBOX?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 container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Flex-direction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Flex-wrap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Justify-content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Align-items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Align-content</a:t>
            </a:r>
            <a:endParaRPr lang="uk-UA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D63D710-1F0C-47FA-808D-064AEFC05619}"/>
              </a:ext>
            </a:extLst>
          </p:cNvPr>
          <p:cNvSpPr txBox="1">
            <a:spLocks/>
          </p:cNvSpPr>
          <p:nvPr/>
        </p:nvSpPr>
        <p:spPr>
          <a:xfrm>
            <a:off x="5974082" y="2400301"/>
            <a:ext cx="4274820" cy="3810000"/>
          </a:xfrm>
          <a:prstGeom prst="rect">
            <a:avLst/>
          </a:prstGeom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 items</a:t>
            </a:r>
            <a:endParaRPr lang="uk-U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Order</a:t>
            </a:r>
            <a:endParaRPr lang="uk-U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Flex-grow</a:t>
            </a:r>
            <a:endParaRPr lang="uk-U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Flex-shrink</a:t>
            </a:r>
            <a:endParaRPr lang="uk-U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Flex-basis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Align-self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58342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FLEXBOX?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5838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The Flexbox Layout aims at providing a more efficient way to lay out, align and distribute space among items in a container, even when their size is unknown and/or dynamic.</a:t>
            </a:r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INTRODUCTION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84494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CONTAINER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82936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 area of a document laid out using flexbox is called a flex container. To create a flex container, we set the value of the area's container's </a:t>
            </a:r>
            <a:r>
              <a:rPr lang="en-US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display </a:t>
            </a:r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property to </a:t>
            </a:r>
            <a:r>
              <a:rPr lang="en-US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flex</a:t>
            </a:r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or </a:t>
            </a:r>
            <a:r>
              <a:rPr lang="en-US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inline-flex</a:t>
            </a:r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</a:p>
          <a:p>
            <a:endParaRPr lang="en-US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	  Default properties:</a:t>
            </a:r>
          </a:p>
          <a:p>
            <a:pPr marL="1028700" lvl="1" indent="-342900"/>
            <a:r>
              <a:rPr lang="en-US" dirty="0"/>
              <a:t>Items display in a row (the </a:t>
            </a:r>
            <a:r>
              <a:rPr lang="en-US" b="1" dirty="0"/>
              <a:t>flex-direction</a:t>
            </a:r>
            <a:r>
              <a:rPr lang="en-US" dirty="0"/>
              <a:t> property's default is </a:t>
            </a:r>
            <a:r>
              <a:rPr lang="en-US" b="1" dirty="0"/>
              <a:t>row</a:t>
            </a:r>
            <a:r>
              <a:rPr lang="en-US" dirty="0"/>
              <a:t>).</a:t>
            </a:r>
          </a:p>
          <a:p>
            <a:pPr marL="1028700" lvl="1" indent="-342900"/>
            <a:r>
              <a:rPr lang="en-US" dirty="0"/>
              <a:t>The items start from the start edge of the main axis.</a:t>
            </a:r>
          </a:p>
          <a:p>
            <a:pPr marL="1028700" lvl="1" indent="-342900"/>
            <a:r>
              <a:rPr lang="en-US" dirty="0"/>
              <a:t>The items do not stretch on the main dimension, but can shrink.</a:t>
            </a:r>
          </a:p>
          <a:p>
            <a:pPr marL="1028700" lvl="1" indent="-342900"/>
            <a:r>
              <a:rPr lang="en-US" dirty="0"/>
              <a:t>The items will stretch to fill the size of the cross axis.</a:t>
            </a:r>
          </a:p>
          <a:p>
            <a:pPr marL="1028700" lvl="1" indent="-342900"/>
            <a:r>
              <a:rPr lang="en-US" dirty="0"/>
              <a:t> The </a:t>
            </a:r>
            <a:r>
              <a:rPr lang="en-US" b="1" dirty="0"/>
              <a:t>flex-wrap</a:t>
            </a:r>
            <a:r>
              <a:rPr lang="en-US" dirty="0"/>
              <a:t> property is set to </a:t>
            </a:r>
            <a:r>
              <a:rPr lang="en-US" b="1" dirty="0" err="1"/>
              <a:t>nowrap</a:t>
            </a:r>
            <a:r>
              <a:rPr lang="en-US" dirty="0"/>
              <a:t>.</a:t>
            </a:r>
            <a:endParaRPr lang="en-US" b="1" dirty="0"/>
          </a:p>
          <a:p>
            <a:pPr marL="1028700" lvl="1" indent="-342900"/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FLEX CONTAINER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100491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When working with flexbox you need to think in terms of two axes — the main axis and the cross axis. The main axis is defined by the </a:t>
            </a:r>
            <a:r>
              <a:rPr lang="en-US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flex-direction</a:t>
            </a:r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property, and the cross axis runs perpendicular to it.</a:t>
            </a:r>
          </a:p>
          <a:p>
            <a:endParaRPr lang="en-US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r>
              <a:rPr lang="en-US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	</a:t>
            </a:r>
            <a:r>
              <a:rPr lang="en-US" dirty="0"/>
              <a:t> </a:t>
            </a:r>
            <a:r>
              <a:rPr lang="en-US" b="1" dirty="0"/>
              <a:t>flex-direction:</a:t>
            </a:r>
            <a:endParaRPr lang="en-US" b="1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1028700" lvl="1" indent="-342900"/>
            <a:r>
              <a:rPr lang="en-US" b="1" dirty="0"/>
              <a:t>row</a:t>
            </a:r>
          </a:p>
          <a:p>
            <a:pPr marL="1028700" lvl="1" indent="-342900"/>
            <a:r>
              <a:rPr lang="en-US" b="1" dirty="0"/>
              <a:t>row-reverse</a:t>
            </a:r>
          </a:p>
          <a:p>
            <a:pPr marL="1028700" lvl="1" indent="-342900"/>
            <a:r>
              <a:rPr lang="en-US" b="1" dirty="0"/>
              <a:t>column</a:t>
            </a:r>
          </a:p>
          <a:p>
            <a:pPr marL="1028700" lvl="1" indent="-342900"/>
            <a:r>
              <a:rPr lang="en-US" b="1" dirty="0"/>
              <a:t>column-reverse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FLEX-DIRECTION</a:t>
            </a:r>
            <a:endParaRPr lang="uk-UA" sz="4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92E519-F48F-4B9E-A089-D4CB48799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635" y="3066709"/>
            <a:ext cx="5611008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9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lvl="1" indent="0">
              <a:buNone/>
            </a:pPr>
            <a:r>
              <a:rPr lang="en-US" b="1" dirty="0"/>
              <a:t>flex-wrap</a:t>
            </a:r>
            <a:endParaRPr lang="en-US" dirty="0"/>
          </a:p>
          <a:p>
            <a:pPr marL="1028700" lvl="1" indent="-342900"/>
            <a:r>
              <a:rPr lang="en-US" b="1" dirty="0" err="1"/>
              <a:t>nowrap</a:t>
            </a:r>
            <a:endParaRPr lang="en-US" b="1" dirty="0"/>
          </a:p>
          <a:p>
            <a:pPr marL="1028700" lvl="1" indent="-342900"/>
            <a:r>
              <a:rPr lang="en-US" b="1" dirty="0"/>
              <a:t>wrap</a:t>
            </a:r>
          </a:p>
          <a:p>
            <a:pPr marL="1028700" lvl="1" indent="-342900"/>
            <a:r>
              <a:rPr lang="en-US" b="1" dirty="0"/>
              <a:t>wrap-reverse</a:t>
            </a:r>
          </a:p>
          <a:p>
            <a:pPr marL="1028700" lvl="1" indent="-342900"/>
            <a:endParaRPr lang="en-US" b="1" dirty="0"/>
          </a:p>
          <a:p>
            <a:r>
              <a:rPr lang="en-US" b="1" dirty="0"/>
              <a:t>flex-flow</a:t>
            </a:r>
            <a:r>
              <a:rPr lang="en-US" dirty="0"/>
              <a:t> is a shorthand flex-direction </a:t>
            </a:r>
          </a:p>
          <a:p>
            <a:r>
              <a:rPr lang="en-US" dirty="0"/>
              <a:t>and flex-wrap properties, which together</a:t>
            </a:r>
          </a:p>
          <a:p>
            <a:r>
              <a:rPr lang="en-US" dirty="0"/>
              <a:t>define the flex container's main and </a:t>
            </a:r>
          </a:p>
          <a:p>
            <a:r>
              <a:rPr lang="en-US" dirty="0"/>
              <a:t>cross axes. </a:t>
            </a:r>
          </a:p>
          <a:p>
            <a:r>
              <a:rPr lang="en-US" b="1" dirty="0"/>
              <a:t>flex-flow:  </a:t>
            </a:r>
            <a:r>
              <a:rPr lang="en-US" i="1" dirty="0"/>
              <a:t>flex-direction   flex-wrap </a:t>
            </a:r>
            <a:r>
              <a:rPr lang="en-US" b="1" dirty="0"/>
              <a:t>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FLEX-WRAP</a:t>
            </a:r>
            <a:endParaRPr lang="uk-UA" sz="4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9ADF57-FA34-4927-B1AE-67E169759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931" y="1556826"/>
            <a:ext cx="3331029" cy="396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93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lvl="1" indent="0">
              <a:buNone/>
            </a:pPr>
            <a:r>
              <a:rPr lang="en-US" b="1" dirty="0"/>
              <a:t>justify-content</a:t>
            </a:r>
            <a:endParaRPr lang="en-US" dirty="0"/>
          </a:p>
          <a:p>
            <a:pPr marL="1028700" lvl="1" indent="-342900"/>
            <a:r>
              <a:rPr lang="en-US" b="1" dirty="0"/>
              <a:t>flex-start</a:t>
            </a:r>
          </a:p>
          <a:p>
            <a:pPr marL="1028700" lvl="1" indent="-342900"/>
            <a:r>
              <a:rPr lang="en-US" b="1" dirty="0"/>
              <a:t>flex-end</a:t>
            </a:r>
          </a:p>
          <a:p>
            <a:pPr marL="1028700" lvl="1" indent="-342900"/>
            <a:r>
              <a:rPr lang="en-US" b="1" dirty="0"/>
              <a:t>center</a:t>
            </a:r>
          </a:p>
          <a:p>
            <a:pPr marL="1028700" lvl="1" indent="-342900"/>
            <a:r>
              <a:rPr lang="en-US" b="1" dirty="0"/>
              <a:t>space-between</a:t>
            </a:r>
          </a:p>
          <a:p>
            <a:pPr marL="1028700" lvl="1" indent="-342900"/>
            <a:r>
              <a:rPr lang="en-US" b="1" dirty="0"/>
              <a:t>space-around</a:t>
            </a:r>
          </a:p>
          <a:p>
            <a:pPr marL="1028700" lvl="1" indent="-342900"/>
            <a:r>
              <a:rPr lang="en-US" b="1" dirty="0"/>
              <a:t>space-evenly</a:t>
            </a:r>
          </a:p>
          <a:p>
            <a:pPr marL="1028700" lvl="1" indent="-342900"/>
            <a:endParaRPr lang="en-US" b="1" dirty="0"/>
          </a:p>
          <a:p>
            <a:r>
              <a:rPr lang="en-US" dirty="0"/>
              <a:t>This defines the alignment along the main axis.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JUSTIFY-CONTENT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C4835E-3955-44DC-8734-C810A552D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271" y="1457001"/>
            <a:ext cx="2700689" cy="406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26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lvl="1" indent="0">
              <a:buNone/>
            </a:pPr>
            <a:r>
              <a:rPr lang="en-US" b="1" dirty="0"/>
              <a:t>align-items</a:t>
            </a:r>
            <a:endParaRPr lang="en-US" dirty="0"/>
          </a:p>
          <a:p>
            <a:pPr marL="1028700" lvl="1" indent="-342900"/>
            <a:r>
              <a:rPr lang="en-US" b="1" dirty="0"/>
              <a:t>flex-start</a:t>
            </a:r>
          </a:p>
          <a:p>
            <a:pPr marL="1028700" lvl="1" indent="-342900"/>
            <a:r>
              <a:rPr lang="en-US" b="1" dirty="0"/>
              <a:t>flex-end</a:t>
            </a:r>
          </a:p>
          <a:p>
            <a:pPr marL="1028700" lvl="1" indent="-342900"/>
            <a:r>
              <a:rPr lang="en-US" b="1" dirty="0"/>
              <a:t>center</a:t>
            </a:r>
          </a:p>
          <a:p>
            <a:pPr marL="1028700" lvl="1" indent="-342900"/>
            <a:r>
              <a:rPr lang="en-US" b="1" dirty="0"/>
              <a:t>stretch</a:t>
            </a:r>
          </a:p>
          <a:p>
            <a:pPr marL="1028700" lvl="1" indent="-342900"/>
            <a:r>
              <a:rPr lang="en-US" b="1" dirty="0"/>
              <a:t>baseline</a:t>
            </a:r>
          </a:p>
          <a:p>
            <a:pPr marL="1028700" lvl="1" indent="-342900"/>
            <a:endParaRPr lang="en-US" b="1" dirty="0"/>
          </a:p>
          <a:p>
            <a:r>
              <a:rPr lang="en-US" dirty="0"/>
              <a:t>This defines the alignment along the cross axis.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ALIGN-ITEMS</a:t>
            </a:r>
            <a:endParaRPr lang="uk-UA" sz="4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B1E127-7BD4-41CF-BBC8-2B6BEC59F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365" y="1406158"/>
            <a:ext cx="3382595" cy="404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005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lvl="1" indent="0">
              <a:buNone/>
            </a:pPr>
            <a:r>
              <a:rPr lang="en-US" b="1" dirty="0"/>
              <a:t>align-content</a:t>
            </a:r>
            <a:endParaRPr lang="en-US" dirty="0"/>
          </a:p>
          <a:p>
            <a:pPr marL="1028700" lvl="1" indent="-342900"/>
            <a:r>
              <a:rPr lang="en-US" b="1" dirty="0"/>
              <a:t>flex-start</a:t>
            </a:r>
          </a:p>
          <a:p>
            <a:pPr marL="1028700" lvl="1" indent="-342900"/>
            <a:r>
              <a:rPr lang="en-US" b="1" dirty="0"/>
              <a:t>flex-end</a:t>
            </a:r>
          </a:p>
          <a:p>
            <a:pPr marL="1028700" lvl="1" indent="-342900"/>
            <a:r>
              <a:rPr lang="en-US" b="1" dirty="0"/>
              <a:t>center</a:t>
            </a:r>
          </a:p>
          <a:p>
            <a:pPr marL="1028700" lvl="1" indent="-342900"/>
            <a:r>
              <a:rPr lang="en-US" b="1" dirty="0"/>
              <a:t>stretch</a:t>
            </a:r>
          </a:p>
          <a:p>
            <a:pPr marL="1028700" lvl="1" indent="-342900"/>
            <a:r>
              <a:rPr lang="en-US" b="1" dirty="0"/>
              <a:t>space-between</a:t>
            </a:r>
          </a:p>
          <a:p>
            <a:pPr marL="1028700" lvl="1" indent="-342900"/>
            <a:r>
              <a:rPr lang="en-US" b="1" dirty="0"/>
              <a:t>space-around</a:t>
            </a:r>
          </a:p>
          <a:p>
            <a:pPr marL="1028700" lvl="1" indent="-342900"/>
            <a:endParaRPr lang="en-US" b="1" dirty="0"/>
          </a:p>
          <a:p>
            <a:r>
              <a:rPr lang="en-US" dirty="0"/>
              <a:t>This aligns a flex container's lines in the cross-axis.</a:t>
            </a:r>
          </a:p>
          <a:p>
            <a:r>
              <a:rPr lang="en-US" i="1" dirty="0"/>
              <a:t>Note: this property has no effect when there is only </a:t>
            </a:r>
          </a:p>
          <a:p>
            <a:r>
              <a:rPr lang="en-US" i="1" dirty="0"/>
              <a:t>one line of flex items</a:t>
            </a:r>
            <a:r>
              <a:rPr lang="en-US" dirty="0"/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ALIGN-CONTENT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291C87-08C3-4993-9F94-495CEA51D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887" y="1406158"/>
            <a:ext cx="3210073" cy="404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</a:t>
            </a:r>
            <a:br>
              <a:rPr lang="en-US" dirty="0"/>
            </a:br>
            <a:r>
              <a:rPr lang="en-US" dirty="0"/>
              <a:t>ITEMS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1955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Flex items are all direct children of flex container.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FLEX-ITEMS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80833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b="1" dirty="0"/>
              <a:t>order: </a:t>
            </a:r>
            <a:r>
              <a:rPr lang="en-US" i="1" dirty="0"/>
              <a:t>integer</a:t>
            </a:r>
            <a:r>
              <a:rPr lang="en-US" dirty="0"/>
              <a:t> </a:t>
            </a:r>
            <a:r>
              <a:rPr lang="en-US" b="1" dirty="0"/>
              <a:t>;</a:t>
            </a:r>
          </a:p>
          <a:p>
            <a:endParaRPr lang="en-US" b="1" dirty="0"/>
          </a:p>
          <a:p>
            <a:r>
              <a:rPr lang="en-US" dirty="0"/>
              <a:t>Determines the order of output of </a:t>
            </a:r>
          </a:p>
          <a:p>
            <a:r>
              <a:rPr lang="en-US" dirty="0"/>
              <a:t>flex items within the flex container.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ORDER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B52BE6-2703-41CA-94AE-DDB57C6F5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665" y="1714502"/>
            <a:ext cx="4316295" cy="387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92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This sets how much of the </a:t>
            </a:r>
          </a:p>
          <a:p>
            <a:r>
              <a:rPr lang="en-US" dirty="0"/>
              <a:t>remaining space in the flex </a:t>
            </a:r>
          </a:p>
          <a:p>
            <a:r>
              <a:rPr lang="en-US" dirty="0"/>
              <a:t>container should be assigned to </a:t>
            </a:r>
          </a:p>
          <a:p>
            <a:r>
              <a:rPr lang="en-US" dirty="0"/>
              <a:t>that item. </a:t>
            </a:r>
          </a:p>
          <a:p>
            <a:r>
              <a:rPr lang="en-US" b="1" dirty="0"/>
              <a:t>flex-grow: </a:t>
            </a:r>
            <a:r>
              <a:rPr lang="en-US" i="1" dirty="0"/>
              <a:t>number </a:t>
            </a:r>
            <a:r>
              <a:rPr lang="en-US" b="1" dirty="0"/>
              <a:t>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FLEX-GROW</a:t>
            </a:r>
            <a:endParaRPr lang="uk-UA" sz="4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CD1E11-B609-43FA-A8CF-708B31751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795" y="1714502"/>
            <a:ext cx="5125165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14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r>
              <a:rPr lang="en-US" dirty="0"/>
              <a:t>If the size of all flex items is larger </a:t>
            </a:r>
          </a:p>
          <a:p>
            <a:r>
              <a:rPr lang="en-US" dirty="0"/>
              <a:t>than the flex container, items </a:t>
            </a:r>
          </a:p>
          <a:p>
            <a:r>
              <a:rPr lang="en-US" dirty="0"/>
              <a:t>shrink to fit according to </a:t>
            </a:r>
          </a:p>
          <a:p>
            <a:r>
              <a:rPr lang="en-US" dirty="0"/>
              <a:t>flex-shrink.</a:t>
            </a:r>
          </a:p>
          <a:p>
            <a:r>
              <a:rPr lang="en-US" b="1" dirty="0"/>
              <a:t>flex-shrink: </a:t>
            </a:r>
            <a:r>
              <a:rPr lang="en-US" i="1" dirty="0"/>
              <a:t>number</a:t>
            </a:r>
            <a:r>
              <a:rPr lang="en-US" b="1" dirty="0"/>
              <a:t>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FLEX-SHRINK</a:t>
            </a:r>
            <a:endParaRPr lang="uk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EDCD01-C898-460D-A29C-5082187F9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510" y="1714502"/>
            <a:ext cx="51244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55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/>
              <a:t>flex-basis:</a:t>
            </a:r>
          </a:p>
          <a:p>
            <a:pPr lvl="1"/>
            <a:r>
              <a:rPr lang="en-US" b="1" i="1" dirty="0"/>
              <a:t>length(%, px)</a:t>
            </a:r>
          </a:p>
          <a:p>
            <a:pPr lvl="1"/>
            <a:r>
              <a:rPr lang="en-US" b="1" dirty="0"/>
              <a:t>auto</a:t>
            </a:r>
          </a:p>
          <a:p>
            <a:endParaRPr lang="en-US" dirty="0"/>
          </a:p>
          <a:p>
            <a:r>
              <a:rPr lang="en-US" dirty="0"/>
              <a:t>This defines the default size of an element before the remaining space is distributed.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FLEX-BASIS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3391839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indent="-228600"/>
            <a:r>
              <a:rPr lang="en-US" dirty="0"/>
              <a:t>This is the shorthand for flex-grow, flex-shrink and flex-basis combined. </a:t>
            </a:r>
          </a:p>
          <a:p>
            <a:pPr indent="-228600"/>
            <a:r>
              <a:rPr lang="en-US" dirty="0"/>
              <a:t>The second and third parameters (flex-shrink and flex-basis) are optional.</a:t>
            </a:r>
          </a:p>
          <a:p>
            <a:pPr indent="-228600"/>
            <a:endParaRPr lang="en-US" dirty="0"/>
          </a:p>
          <a:p>
            <a:pPr indent="-228600"/>
            <a:r>
              <a:rPr lang="en-US" b="1" dirty="0"/>
              <a:t>flex:  </a:t>
            </a:r>
            <a:r>
              <a:rPr lang="en-US" i="1" dirty="0"/>
              <a:t>flex-grow   flex-shrink   flex-basis  </a:t>
            </a:r>
            <a:r>
              <a:rPr lang="en-US" b="1" dirty="0"/>
              <a:t>;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FLEX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021772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marL="457200" lvl="1" indent="0">
              <a:buNone/>
            </a:pPr>
            <a:r>
              <a:rPr lang="en-US" b="1" dirty="0"/>
              <a:t>align-self:</a:t>
            </a:r>
          </a:p>
          <a:p>
            <a:pPr lvl="1"/>
            <a:r>
              <a:rPr lang="en-US" b="1" dirty="0"/>
              <a:t>auto</a:t>
            </a:r>
          </a:p>
          <a:p>
            <a:pPr lvl="1"/>
            <a:r>
              <a:rPr lang="en-US" b="1" dirty="0"/>
              <a:t>flex-start</a:t>
            </a:r>
          </a:p>
          <a:p>
            <a:pPr lvl="1"/>
            <a:r>
              <a:rPr lang="en-US" b="1" dirty="0"/>
              <a:t>flex-end</a:t>
            </a:r>
          </a:p>
          <a:p>
            <a:pPr lvl="1"/>
            <a:r>
              <a:rPr lang="en-US" b="1" dirty="0"/>
              <a:t>center</a:t>
            </a:r>
          </a:p>
          <a:p>
            <a:pPr lvl="1"/>
            <a:r>
              <a:rPr lang="en-US" b="1" dirty="0"/>
              <a:t>baseline</a:t>
            </a:r>
          </a:p>
          <a:p>
            <a:pPr lvl="1"/>
            <a:r>
              <a:rPr lang="en-US" b="1" dirty="0"/>
              <a:t>stretch</a:t>
            </a:r>
          </a:p>
          <a:p>
            <a:endParaRPr lang="en-US" dirty="0"/>
          </a:p>
          <a:p>
            <a:r>
              <a:rPr lang="en-US" dirty="0"/>
              <a:t>This allows the default alignment (or the one specified by align-items) to be overridden for individual flex items.</a:t>
            </a:r>
            <a:endParaRPr lang="en-US" b="1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ALIGN-SELF</a:t>
            </a:r>
            <a:endParaRPr lang="uk-UA" sz="4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30F73D-3C36-4F72-80FE-F67266B70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584" y="1714502"/>
            <a:ext cx="5201376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41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84239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85800" y="1714502"/>
            <a:ext cx="9281160" cy="3810000"/>
          </a:xfrm>
        </p:spPr>
        <p:txBody>
          <a:bodyPr/>
          <a:lstStyle/>
          <a:p>
            <a:pPr indent="-228600"/>
            <a:r>
              <a:rPr lang="en-US" dirty="0"/>
              <a:t>Note that float, clear and vertical-align have no effect on a flex item.</a:t>
            </a:r>
          </a:p>
          <a:p>
            <a:pPr indent="-228600"/>
            <a:endParaRPr lang="en-US" dirty="0"/>
          </a:p>
          <a:p>
            <a:pPr indent="-228600"/>
            <a:r>
              <a:rPr lang="en-US" dirty="0"/>
              <a:t>There is more of the flexbox and flex items properties. But they are not supported widely yet.</a:t>
            </a:r>
          </a:p>
          <a:p>
            <a:pPr indent="-228600"/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52B119F-E694-4313-ADAC-69A9F9627046}"/>
              </a:ext>
            </a:extLst>
          </p:cNvPr>
          <p:cNvSpPr txBox="1">
            <a:spLocks/>
          </p:cNvSpPr>
          <p:nvPr/>
        </p:nvSpPr>
        <p:spPr>
          <a:xfrm>
            <a:off x="685800" y="0"/>
            <a:ext cx="10820400" cy="17145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algn="l" defTabSz="914400" rtl="0" eaLnBrk="1" latinLnBrk="0" hangingPunct="1">
              <a:lnSpc>
                <a:spcPts val="11000"/>
              </a:lnSpc>
              <a:spcBef>
                <a:spcPct val="0"/>
              </a:spcBef>
              <a:buNone/>
              <a:defRPr sz="12500" kern="1200">
                <a:solidFill>
                  <a:schemeClr val="tx1"/>
                </a:solidFill>
                <a:latin typeface="Proxima Nova Black" panose="02000506030000020004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ATTENTION</a:t>
            </a:r>
            <a:endParaRPr lang="uk-UA" sz="4400" dirty="0"/>
          </a:p>
        </p:txBody>
      </p:sp>
    </p:spTree>
    <p:extLst>
      <p:ext uri="{BB962C8B-B14F-4D97-AF65-F5344CB8AC3E}">
        <p14:creationId xmlns:p14="http://schemas.microsoft.com/office/powerpoint/2010/main" val="2356503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USED MATERIALS</a:t>
            </a:r>
            <a:endParaRPr lang="uk-U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0ABE4-A9F8-4A95-B31B-CF861D743B3B}"/>
              </a:ext>
            </a:extLst>
          </p:cNvPr>
          <p:cNvSpPr/>
          <p:nvPr/>
        </p:nvSpPr>
        <p:spPr>
          <a:xfrm>
            <a:off x="685799" y="4162548"/>
            <a:ext cx="9207844" cy="1327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2"/>
              </a:rPr>
              <a:t>https://developer.mozilla.org/en-US/docs/Web/CSS/CSS_Flexible_Box_Layout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3"/>
              </a:rPr>
              <a:t>https://webref.ru/css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4"/>
              </a:rPr>
              <a:t>https://css-tricks.com/snippets/css/a-guide-to-flexbox/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defTabSz="438911">
              <a:lnSpc>
                <a:spcPct val="90000"/>
              </a:lnSpc>
              <a:spcBef>
                <a:spcPts val="1000"/>
              </a:spcBef>
              <a:defRPr sz="1536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https://www.w3schools.com/Css/css3_flexbox.asp</a:t>
            </a:r>
          </a:p>
        </p:txBody>
      </p:sp>
    </p:spTree>
    <p:extLst>
      <p:ext uri="{BB962C8B-B14F-4D97-AF65-F5344CB8AC3E}">
        <p14:creationId xmlns:p14="http://schemas.microsoft.com/office/powerpoint/2010/main" val="2336666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85299940"/>
      </p:ext>
    </p:extLst>
  </p:cSld>
  <p:clrMapOvr>
    <a:masterClrMapping/>
  </p:clrMapOvr>
</p:sld>
</file>

<file path=ppt/theme/theme1.xml><?xml version="1.0" encoding="utf-8"?>
<a:theme xmlns:a="http://schemas.openxmlformats.org/drawingml/2006/main" name="DARK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Template" id="{1EECC8DE-A8A5-45A7-969A-C21752D4B3E4}" vid="{444DEE5D-51F1-4029-8FDB-DB417F7B394A}"/>
    </a:ext>
  </a:extLst>
</a:theme>
</file>

<file path=ppt/theme/theme2.xml><?xml version="1.0" encoding="utf-8"?>
<a:theme xmlns:a="http://schemas.openxmlformats.org/drawingml/2006/main" name="LIGHT-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Template" id="{1EECC8DE-A8A5-45A7-969A-C21752D4B3E4}" vid="{0103479C-70CD-40C7-BA0E-A151EE336BC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195FC54A15F344D83577B1CDDD67A5D" ma:contentTypeVersion="9" ma:contentTypeDescription="Создание документа." ma:contentTypeScope="" ma:versionID="961ec8db58076c7d3e9f84b9cd82fd45">
  <xsd:schema xmlns:xsd="http://www.w3.org/2001/XMLSchema" xmlns:xs="http://www.w3.org/2001/XMLSchema" xmlns:p="http://schemas.microsoft.com/office/2006/metadata/properties" xmlns:ns2="341e6018-ac0a-4dfb-8409-db9e0d25502e" xmlns:ns3="835f28f2-30f1-4728-84d2-86d96e143488" targetNamespace="http://schemas.microsoft.com/office/2006/metadata/properties" ma:root="true" ma:fieldsID="bd9f0c80ada20ee560e77d723f3ef44e" ns2:_="" ns3:_="">
    <xsd:import namespace="341e6018-ac0a-4dfb-8409-db9e0d25502e"/>
    <xsd:import namespace="835f28f2-30f1-4728-84d2-86d96e1434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_x041a__x043e__x043c__x0435__x0442__x0430__x044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e6018-ac0a-4dfb-8409-db9e0d2550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28f2-30f1-4728-84d2-86d96e14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41a__x043e__x043c__x0435__x0442__x0430__x0440_" ma:index="16" nillable="true" ma:displayName="Кометар" ma:internalName="_x041a__x043e__x043c__x0435__x0442__x0430__x0440_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41a__x043e__x043c__x0435__x0442__x0430__x0440_ xmlns="835f28f2-30f1-4728-84d2-86d96e143488" xsi:nil="true"/>
  </documentManagement>
</p:properties>
</file>

<file path=customXml/itemProps1.xml><?xml version="1.0" encoding="utf-8"?>
<ds:datastoreItem xmlns:ds="http://schemas.openxmlformats.org/officeDocument/2006/customXml" ds:itemID="{CAFDAB34-20E1-438F-BCB2-ECDA5496F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1e6018-ac0a-4dfb-8409-db9e0d25502e"/>
    <ds:schemaRef ds:uri="835f28f2-30f1-4728-84d2-86d96e1434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6B3B9E-03D8-4766-BF45-6129617CF0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A1340B-3A1B-4156-ADE3-51DF6C2C795D}">
  <ds:schemaRefs>
    <ds:schemaRef ds:uri="http://purl.org/dc/elements/1.1/"/>
    <ds:schemaRef ds:uri="http://schemas.microsoft.com/office/2006/metadata/properties"/>
    <ds:schemaRef ds:uri="835f28f2-30f1-4728-84d2-86d96e143488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341e6018-ac0a-4dfb-8409-db9e0d25502e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SoftServeTemplate_Black</Template>
  <TotalTime>307</TotalTime>
  <Words>508</Words>
  <Application>Microsoft Office PowerPoint</Application>
  <PresentationFormat>Широкий екран</PresentationFormat>
  <Paragraphs>133</Paragraphs>
  <Slides>23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слайдів</vt:lpstr>
      </vt:variant>
      <vt:variant>
        <vt:i4>23</vt:i4>
      </vt:variant>
    </vt:vector>
  </HeadingPairs>
  <TitlesOfParts>
    <vt:vector size="29" baseType="lpstr">
      <vt:lpstr>Proxima Nova Black</vt:lpstr>
      <vt:lpstr>Arial</vt:lpstr>
      <vt:lpstr>Open Sans</vt:lpstr>
      <vt:lpstr>Calibri</vt:lpstr>
      <vt:lpstr>DARK THEME</vt:lpstr>
      <vt:lpstr>LIGHT-THEME</vt:lpstr>
      <vt:lpstr>FLEXBOX</vt:lpstr>
      <vt:lpstr>AGENDA</vt:lpstr>
      <vt:lpstr>WHAT IS FLEXBOX?</vt:lpstr>
      <vt:lpstr>Презентація PowerPoint</vt:lpstr>
      <vt:lpstr>FLEX CONTAINER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FLEX  ITEMS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ATTENTION</vt:lpstr>
      <vt:lpstr>Презентація PowerPoint</vt:lpstr>
      <vt:lpstr>USED MATERIALS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Liubov Koliasa</dc:creator>
  <cp:lastModifiedBy>Volodymyr Karanevych</cp:lastModifiedBy>
  <cp:revision>27</cp:revision>
  <dcterms:created xsi:type="dcterms:W3CDTF">2018-12-11T16:43:22Z</dcterms:created>
  <dcterms:modified xsi:type="dcterms:W3CDTF">2019-04-03T19:43:30Z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0x0101004195FC54A15F344D83577B1CDDD67A5D</vt:lpwstr>
  </property>
</Properties>
</file>